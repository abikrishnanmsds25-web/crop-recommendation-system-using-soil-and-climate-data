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KNN</c:v>
                </c:pt>
                <c:pt idx="2">
                  <c:v>Decision Tree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0.993</c:v>
                </c:pt>
                <c:pt idx="1">
                  <c:v>0.978</c:v>
                </c:pt>
                <c:pt idx="2">
                  <c:v>0.965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4A9E6B"/>
            </a:solidFill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KNN</c:v>
                </c:pt>
                <c:pt idx="2">
                  <c:v>Decision Tree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0.993</c:v>
                </c:pt>
                <c:pt idx="1">
                  <c:v>0.978</c:v>
                </c:pt>
                <c:pt idx="2">
                  <c:v>0.964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KNN</c:v>
                </c:pt>
                <c:pt idx="2">
                  <c:v>Decision Tree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0.999</c:v>
                </c:pt>
                <c:pt idx="1">
                  <c:v>0.997</c:v>
                </c:pt>
                <c:pt idx="2">
                  <c:v>0.984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64748B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64748B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1"/>
    <c:extLst>
      <c:ext uri="{0b15fc19-7d7d-44ad-8c2d-2c3a37ce22c3}">
        <chartProps xmlns="https://web.wps.cn/et/2018/main" chartId="{b0056b2e-c9cf-42d2-939b-91833d3696a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100" b="0" i="0" u="none" strike="noStrike" kern="1200" baseline="0">
                <a:solidFill>
                  <a:srgbClr val="1A3A2A"/>
                </a:solidFill>
                <a:latin typeface="Arial" panose="020B0604020202020204"/>
                <a:ea typeface="+mn-ea"/>
                <a:cs typeface="+mn-cs"/>
              </a:defRPr>
            </a:pPr>
            <a:r>
              <a:rPr lang="en-US" sz="1100" b="0" i="0" u="none" strike="noStrike">
                <a:solidFill>
                  <a:srgbClr val="1A3A2A"/>
                </a:solidFill>
                <a:latin typeface="Arial" panose="020B0604020202020204"/>
              </a:rPr>
              <a:t>Top 10 Features by SHAP Importance</a:t>
            </a:r>
            <a:endParaRPr lang="en-US" sz="1100" b="0" i="0" u="none" strike="noStrike">
              <a:solidFill>
                <a:srgbClr val="1A3A2A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SHAP Importance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delete val="1"/>
          </c:dLbls>
          <c:cat>
            <c:strRef>
              <c:f>Sheet1!$A$2:$A$11</c:f>
              <c:strCache>
                <c:ptCount val="10"/>
                <c:pt idx="0">
                  <c:v>humidity</c:v>
                </c:pt>
                <c:pt idx="1">
                  <c:v>rainfall</c:v>
                </c:pt>
                <c:pt idx="2">
                  <c:v>temperature</c:v>
                </c:pt>
                <c:pt idx="3">
                  <c:v>K</c:v>
                </c:pt>
                <c:pt idx="4">
                  <c:v>ph</c:v>
                </c:pt>
                <c:pt idx="5">
                  <c:v>P</c:v>
                </c:pt>
                <c:pt idx="6">
                  <c:v>N</c:v>
                </c:pt>
                <c:pt idx="7">
                  <c:v>temp_humidity</c:v>
                </c:pt>
                <c:pt idx="8">
                  <c:v>log_rainfall</c:v>
                </c:pt>
                <c:pt idx="9">
                  <c:v>N_P_ratio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0.185</c:v>
                </c:pt>
                <c:pt idx="1">
                  <c:v>0.162</c:v>
                </c:pt>
                <c:pt idx="2">
                  <c:v>0.148</c:v>
                </c:pt>
                <c:pt idx="3">
                  <c:v>0.112</c:v>
                </c:pt>
                <c:pt idx="4">
                  <c:v>0.095</c:v>
                </c:pt>
                <c:pt idx="5">
                  <c:v>0.088</c:v>
                </c:pt>
                <c:pt idx="6">
                  <c:v>0.076</c:v>
                </c:pt>
                <c:pt idx="7">
                  <c:v>0.055</c:v>
                </c:pt>
                <c:pt idx="8">
                  <c:v>0.042</c:v>
                </c:pt>
                <c:pt idx="9">
                  <c:v>0.037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64748B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64748B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  <c:extLst>
      <c:ext uri="{0b15fc19-7d7d-44ad-8c2d-2c3a37ce22c3}">
        <chartProps xmlns="https://web.wps.cn/et/2018/main" chartId="{3a5451a8-8fde-4662-a1e2-6f4d751c9a34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🌾 Crop Recommendation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74320" y="169164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Using Soil Nutrients &amp; Climate Data to Recommend the Best Crop for Farmers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2450592"/>
            <a:ext cx="5943600" cy="36576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6060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99923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ABIKRISHNAN M S 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334670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ANUSREE S  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369417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MUHAMMED SHAHID 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1463040"/>
            <a:ext cx="1097280" cy="11887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1627632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2,200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83680" y="2139696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818120" y="1463040"/>
            <a:ext cx="1097280" cy="11887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18120" y="1627632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818120" y="2139696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2880360"/>
            <a:ext cx="1097280" cy="11887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3044952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Crops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18120" y="2880360"/>
            <a:ext cx="1097280" cy="11887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18120" y="3044952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818120" y="3557016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" y="4754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9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Predictive Analytics — Course Project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4904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Farmers in India often lack scientific guidance for crop selection. Wrong choices based on unsuitable soil or climate lead to: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Poor crop yield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Financial losses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Wasted resources and effort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Soil degradation over time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86868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868680"/>
            <a:ext cx="40233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417320"/>
            <a:ext cx="374904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machine learning-powered Crop Recommendation System that: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Takes soil nutrients (N, P, K) as input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Uses climate data (temp, humidity, rainfall, pH)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Predicts the most suitable crop from 22 options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Provides confidence scores for top 3 crops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📚 Based on: Pudumalar et al. (2017), Savla et al. (2015), Kulkarni &amp; Srinivasan (2018)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8755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Details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4630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Kaggle — Crop Recommendation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37944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3794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65960" y="18836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2,200 (balanced)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58568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3042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N, P, K, Temp, Humidity, pH, Rainfall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79192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79192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Target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5960" y="272491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Crop label (22 classes)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099816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99816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Samples/crop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65960" y="31455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 each (perfectly balanced)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2044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65960" y="35661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41064"/>
            <a:ext cx="1371600" cy="347472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4106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Duplicates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965960" y="398678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None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8686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Features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132588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1325880"/>
            <a:ext cx="64008" cy="411480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13807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— Nitrogen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9440" y="139903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 – 140 mg/kg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182880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1828800"/>
            <a:ext cx="64008" cy="411480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188366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— Phosphorus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9440" y="190195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– 145 mg/kg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233172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2331720"/>
            <a:ext cx="64008" cy="411480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238658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— Potassium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49440" y="24048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– 205 mg/kg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83464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54880" y="2834640"/>
            <a:ext cx="64008" cy="411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92040" y="28895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Temperature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9440" y="29077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8.8 – 43.7 °C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54880" y="333756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54880" y="3337560"/>
            <a:ext cx="64008" cy="411480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92040" y="33924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Humidity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949440" y="341071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14.3 – 99.9 %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754880" y="384048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754880" y="3840480"/>
            <a:ext cx="64008" cy="411480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38953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9440" y="391363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 – 9.9 0–14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754880" y="4343400"/>
            <a:ext cx="3977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754880" y="4343400"/>
            <a:ext cx="64008" cy="411480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92040" y="439826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Rainfall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949440" y="441655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20.2 – 298.6 mm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Preprocessing &amp; Cleaning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265176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0241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05156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Null Check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46304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df.isnull().sum() → 0 missing values across all 2,200 records and 7 features.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914400"/>
            <a:ext cx="26517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241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9E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94760" y="105156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Duplicate Check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0128" y="146304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df.duplicated().sum() → 0 duplicate rows found. Dataset integrity confirmed.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914400"/>
            <a:ext cx="265176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4768" y="10241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29400" y="105156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Outlier Detection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44768" y="146304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IQR boxplots reveal outliers in K, humidity, rainfall. Retained — natural agricultural variation.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34640"/>
            <a:ext cx="265176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9443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297180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Label Encoding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" y="33832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LabelEncoder applied to target column. 22 crop strings → integer class indices (0–21).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0" y="2834640"/>
            <a:ext cx="26517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9443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9E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94760" y="297180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StandardScaler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10128" y="33832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Fit on training set only. Applied to val &amp; test separately — prevents data leakage.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834640"/>
            <a:ext cx="265176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44768" y="29443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29400" y="2971800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Train/Val/Test Split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44768" y="33832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Stratified 70/15/15 split → Train: 1,540 | Val: 330 | Test: 330. Class balance preserved.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Exploratory Data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Visualisations Produced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44752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 distribution bar chart (22 crops, 100 each)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883664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histograms for all 7 variables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322576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Correlation heatmap (feature pairs)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76148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Violin plots — per-crop feature distribution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200400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Crop-feature heatmap (mean values per crop)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639312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5 crops per feature (bar charts)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078224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Pairplot — N, P, K, pH by crop group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868680"/>
            <a:ext cx="4023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868680"/>
            <a:ext cx="40233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Insights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8032" y="147218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🌧️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85232" y="147218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Rice &amp; jute need &gt;200mm rainfall — highest among all crops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00600" y="192024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97510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☁️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85232" y="197510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Coffee needs high humidity but low Potassium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242316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247802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🔗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85232" y="247802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and K show moderate positive correlation — both macronutrients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292608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98094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⚗️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85232" y="29809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 is independent — very low correlation with all other features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00600" y="342900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348386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🍎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85232" y="348386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Fruits cluster separately from Pulses in N-P-K feature space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00600" y="3931920"/>
            <a:ext cx="388620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28032" y="398678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🌡️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85232" y="398678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Temp &amp; humidity show slight negative correlation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828800" cy="91440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88696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Original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60320" y="841248"/>
            <a:ext cx="1828800" cy="91440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0" y="88696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560320" y="1353312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Engineered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841248"/>
            <a:ext cx="1828800" cy="91440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88696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63440" y="1353312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766560" y="841248"/>
            <a:ext cx="1828800" cy="91440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66560" y="88696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766560" y="1353312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Dropped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(high corr)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19202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920240"/>
            <a:ext cx="411480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011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Nutrient Ratios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" y="239572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N/P ratio   •   N/K ratio   •   P/K ratio   •   NPK sum   •   NPK product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9202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920240"/>
            <a:ext cx="411480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2011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Climate Interactions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64608" y="239572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Temp × Humidity index   •   Rainfall × Humidity   •   Temp / Rainfall (aridity)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47472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474720"/>
            <a:ext cx="41148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35661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pH-Nutrient Interactions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" y="395020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 × N   •   pH × P   •   pH × 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47472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3474720"/>
            <a:ext cx="411480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35661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Polynomial &amp; Log Features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64608" y="395020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temp², rainfall², ph², humidity²   •   log(NPK product)   •   log(N), log(P), log(K), log(rainfall)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Building &amp; Training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26517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41248"/>
            <a:ext cx="2651760" cy="64008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🌳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98755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463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Hyperparameters (GridSearchCV 5-fold)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" y="1783080"/>
            <a:ext cx="2423160" cy="100584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82880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n_estimators: 100–200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max_depth: None/20/30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max_features: sqrt/log2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" y="288036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this model?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5488" y="32004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Ensemble of decision trees. Robust to outliers, handles high-dimensional data, provides feature importance natively.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841248"/>
            <a:ext cx="26517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841248"/>
            <a:ext cx="2651760" cy="64008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9601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49040" y="98755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K-Nearest Neighbors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463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E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Hyperparameters (GridSearchCV 5-fold)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0128" y="1783080"/>
            <a:ext cx="2423160" cy="100584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182880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n_neighbors: 3,5,7,9,11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weights: uniform/distance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metric: euclidean/manhattan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88036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E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this model?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32004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Instance-based learner. No training phase. Works well when crop boundaries are well-defined in feature space.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841248"/>
            <a:ext cx="26517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841248"/>
            <a:ext cx="265176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9601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83680" y="987552"/>
            <a:ext cx="2011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Decision Tree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44768" y="1463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Hyperparameters (GridSearchCV 5-fold)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783080"/>
            <a:ext cx="2423160" cy="100584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182880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max_depth: 5,10,15,20,None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criterion: gini/entropy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min_samples_split: 2,5,10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44768" y="288036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this model?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44768" y="32004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Interpretable, rule-based model. Easy to explain to farmers. Shows clear decision path for any prediction.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8412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models tuned with GridSearchCV on 5-fold cross-validation. Best estimator selected per model.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Evaluation &amp; Comparison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841248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852160" y="841248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Detailed Metrics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852160" y="1234440"/>
          <a:ext cx="2889504" cy="1828800"/>
        </p:xfrm>
        <a:graphic>
          <a:graphicData uri="http://schemas.openxmlformats.org/drawingml/2006/table">
            <a:tbl>
              <a:tblPr/>
              <a:tblGrid>
                <a:gridCol w="1188720"/>
                <a:gridCol w="566928"/>
                <a:gridCol w="566928"/>
                <a:gridCol w="566928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6E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6E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6E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CV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6E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Rand.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6E49"/>
                          </a:solidFill>
                        </a:rPr>
                        <a:t>99.3%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99.3%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99.1%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KNN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97.8%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97.8%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97.5%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Dec. Tree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96.4%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95.8%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852160" y="3246120"/>
            <a:ext cx="2926080" cy="502920"/>
          </a:xfrm>
          <a:prstGeom prst="rect">
            <a:avLst/>
          </a:prstGeom>
          <a:solidFill>
            <a:srgbClr val="D8F3DC"/>
          </a:solidFill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6E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🏆 Best Model: Random Forest — 99.3% Test Accuracy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365760" y="416052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 Methods Used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Confusion Matrix (per model)   •   Classification Report (Precision, Recall, F1)   •   Per-class F1 heatmap   •   5-fold Cross Validation   •   ROC-AUC (One-vs-Rest)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Explainability — SHAP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77724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SHAP (SHapley Additive exPlanations) quantifies each feature's contribution to a prediction, based on game theory. It tells us WHY the model recommended a particular crop.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737360"/>
          <a:ext cx="51206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173736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669280" y="1737360"/>
            <a:ext cx="31089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0" y="182880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22402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Humidity is the strongest predictor — crops differ widely in moisture requirements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760720" y="2752344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Rainfall and Temperature follow closely — climate drives crop suitability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760720" y="32644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(Potassium) is the most important soil nutrient for differentiation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760720" y="377647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Engineered features (temp_humidity, log_rainfall) add meaningful signal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760720" y="4288536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(Nitrogen) has lower SHAP impact — less discriminative across crops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Deployment — Streamlit Web 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 Features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463040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🎚️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1463040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sliders for all 7 features with realistic min/max ranges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892808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938528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86968" y="1938528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Instant top-1 crop prediction with confidence score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68296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414016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6968" y="2414016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Top-3 crop probability bar chart (predict_proba)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889504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6968" y="2889504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SHAP feature importance chart embedded in app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319272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364992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⚠️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6968" y="3364992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validation with warning messages for invalid ranges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840480" cy="411480"/>
          </a:xfrm>
          <a:prstGeom prst="rect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840480"/>
            <a:ext cx="3657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33375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StandardScaler applied before prediction (no data leakage)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868680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868680"/>
            <a:ext cx="4023360" cy="54864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9601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389888"/>
            <a:ext cx="3749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3   •   Streamlit   •   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792224"/>
            <a:ext cx="3749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pandas   •   numpy   •   SHAP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2194560"/>
            <a:ext cx="3749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matplotlib   •   seaborn   •   pickle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926080"/>
            <a:ext cx="40233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2926080"/>
            <a:ext cx="402336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0175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How to Run Locally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46320" y="3401568"/>
            <a:ext cx="3749040" cy="1234440"/>
          </a:xfrm>
          <a:prstGeom prst="rect">
            <a:avLst/>
          </a:prstGeom>
          <a:solidFill>
            <a:srgbClr val="1E2B22"/>
          </a:solidFill>
          <a:ln w="12700">
            <a:solidFill>
              <a:srgbClr val="1E2B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9472" y="3456432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DE8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 clone &lt;repo-url&gt;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DE8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cd crop-recommendation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DE8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pip install -r requirements.txt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DE8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streamlit run app.py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A9E6B"/>
          </a:solidFill>
          <a:ln w="12700">
            <a:solidFill>
              <a:srgbClr val="4A9E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0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 &amp;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4173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2588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1353312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38404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Forest achieved 99.3% test accuracy across 22 crop classes with balanced data.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4114800" cy="14173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32588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94960" y="1353312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Pipeline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828800"/>
            <a:ext cx="38404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End-to-end: data → preprocessing → feature engineering → modelling → explainability → deployment.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788920"/>
            <a:ext cx="4114800" cy="14173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92608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05840" y="2953512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Live App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429000"/>
            <a:ext cx="38404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Streamlit app deployed on Streamlit Cloud. Farmers can get instant recommendations.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788920"/>
            <a:ext cx="4114800" cy="1417320"/>
          </a:xfrm>
          <a:prstGeom prst="rect">
            <a:avLst/>
          </a:prstGeom>
          <a:solidFill>
            <a:srgbClr val="2C6E49"/>
          </a:solidFill>
          <a:ln w="12700">
            <a:solidFill>
              <a:srgbClr val="4A9E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92608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94960" y="2953512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Explainable AI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429000"/>
            <a:ext cx="38404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5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SHAP reveals humidity, rainfall, and temperature as top predictors — agronomically sound.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9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  • 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5869</Words>
  <Application>WPS Presentation</Application>
  <PresentationFormat>On-screen Show (16:9)</PresentationFormat>
  <Paragraphs>409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Calibri</vt:lpstr>
      <vt:lpstr>Calibri</vt:lpstr>
      <vt:lpstr>Calibri</vt:lpstr>
      <vt:lpstr>Arial</vt:lpstr>
      <vt:lpstr>Consolas</vt:lpstr>
      <vt:lpstr>Consolas</vt:lpstr>
      <vt:lpstr>Consolas</vt:lpstr>
      <vt:lpstr>Microsoft YaHei</vt:lpstr>
      <vt:lpstr>Arial Unicode MS</vt:lpstr>
      <vt:lpstr>Aptos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Crop Recommendation System</dc:title>
  <dc:creator>PptxGenJS</dc:creator>
  <dc:subject>PptxGenJS Presentation</dc:subject>
  <cp:lastModifiedBy>shemi</cp:lastModifiedBy>
  <cp:revision>4</cp:revision>
  <dcterms:created xsi:type="dcterms:W3CDTF">2026-05-09T06:50:00Z</dcterms:created>
  <dcterms:modified xsi:type="dcterms:W3CDTF">2026-05-09T19:18:40Z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9EEA6A39043943DF9E2A6C47CBF75DC7_12</vt:lpwstr>
  </property>
  <property fmtid="{D5CDD505-2E9C-101B-9397-08002B2CF9AE}" pid="3" name="KSOProductBuildVer">
    <vt:lpwstr>1033-12.1.0.25862</vt:lpwstr>
  </property>
</Properties>
</file>